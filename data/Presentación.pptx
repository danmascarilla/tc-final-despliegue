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1" r:id="rId5"/>
    <p:sldId id="272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0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8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2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8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8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8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1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9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82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10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37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8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90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56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67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Predicción de Satisfacción de Pasajeros en Aerolíneas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 proyecto presenta el desarrollo de un modelo de Machine </a:t>
            </a:r>
            <a:r>
              <a:rPr lang="es-ES" dirty="0" err="1"/>
              <a:t>Learning</a:t>
            </a:r>
            <a:r>
              <a:rPr lang="es-ES" dirty="0"/>
              <a:t> supervisado orientado a predecir la satisfacción de pasajeros en aerolíneas.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814010"/>
            <a:ext cx="7511472" cy="4041162"/>
          </a:xfrm>
        </p:spPr>
        <p:txBody>
          <a:bodyPr/>
          <a:lstStyle/>
          <a:p>
            <a:r>
              <a:rPr lang="es-ES" dirty="0"/>
              <a:t>El objetivo principal es construir un modelo capaz de anticipar si un pasajero estará satisfecho con su experiencia de vuelo. Para ello, se comparan distintos enfoques y se optimiza el rendimiento mediante técnicas de ajuste de </a:t>
            </a:r>
            <a:r>
              <a:rPr lang="es-ES" dirty="0" err="1"/>
              <a:t>hiperparámetros</a:t>
            </a:r>
            <a:r>
              <a:rPr lang="es-E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Carga y Exploración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3873558"/>
          </a:xfrm>
        </p:spPr>
        <p:txBody>
          <a:bodyPr/>
          <a:lstStyle/>
          <a:p>
            <a:r>
              <a:rPr dirty="0"/>
              <a:t>Lectura de datasets: train y test</a:t>
            </a:r>
            <a:endParaRPr lang="es-ES" dirty="0"/>
          </a:p>
          <a:p>
            <a:pPr lvl="1"/>
            <a:r>
              <a:rPr lang="es-ES" dirty="0"/>
              <a:t>Limpieza y tratamiento de variables de ambos </a:t>
            </a:r>
            <a:r>
              <a:rPr lang="es-ES" dirty="0" err="1"/>
              <a:t>datasets</a:t>
            </a:r>
            <a:endParaRPr lang="es-ES" dirty="0"/>
          </a:p>
          <a:p>
            <a:r>
              <a:rPr lang="es-ES" dirty="0"/>
              <a:t>Distribución de la variable objetivo</a:t>
            </a:r>
          </a:p>
          <a:p>
            <a:pPr lvl="1"/>
            <a:r>
              <a:rPr lang="es-ES" dirty="0"/>
              <a:t>Mapa de calor de correlaciones</a:t>
            </a:r>
          </a:p>
          <a:p>
            <a:pPr lvl="1"/>
            <a:r>
              <a:rPr lang="es-ES" dirty="0"/>
              <a:t>Identificación de variables relevantes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División del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Train/Test Split (80% / 20%)</a:t>
            </a:r>
          </a:p>
          <a:p>
            <a:pPr lvl="1"/>
            <a:r>
              <a:rPr dirty="0" err="1"/>
              <a:t>Stratificación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variable </a:t>
            </a:r>
            <a:r>
              <a:rPr dirty="0" err="1"/>
              <a:t>objetivo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62DDC-4C01-8B08-B811-DB0BDCA6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Pipeline de Procesamiento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034CB-D7B0-6DD4-76CF-9B1D5A891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Implementación de </a:t>
            </a:r>
            <a:r>
              <a:rPr lang="es-ES" dirty="0" err="1"/>
              <a:t>ColumnTransformer</a:t>
            </a:r>
            <a:r>
              <a:rPr lang="es-ES" dirty="0"/>
              <a:t>: Tratamiento diferenciado por tipo de variable en un solo flujo atómico.</a:t>
            </a:r>
          </a:p>
          <a:p>
            <a:r>
              <a:rPr lang="es-ES" dirty="0"/>
              <a:t>Bloque Numérico:</a:t>
            </a:r>
          </a:p>
          <a:p>
            <a:pPr lvl="1"/>
            <a:r>
              <a:rPr lang="es-ES" dirty="0"/>
              <a:t>Imputación: Manejo de valores nulos en </a:t>
            </a:r>
            <a:r>
              <a:rPr lang="es-ES" dirty="0" err="1"/>
              <a:t>Arrival</a:t>
            </a:r>
            <a:r>
              <a:rPr lang="es-ES" dirty="0"/>
              <a:t> </a:t>
            </a:r>
            <a:r>
              <a:rPr lang="es-ES" dirty="0" err="1"/>
              <a:t>Delay</a:t>
            </a:r>
            <a:r>
              <a:rPr lang="es-ES" dirty="0"/>
              <a:t> utilizando la mediana para mitigar el impacto de </a:t>
            </a:r>
            <a:r>
              <a:rPr lang="es-ES" dirty="0" err="1"/>
              <a:t>outliers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Escalado: Uso de </a:t>
            </a:r>
            <a:r>
              <a:rPr lang="es-ES" dirty="0" err="1"/>
              <a:t>StandardScaler</a:t>
            </a:r>
            <a:r>
              <a:rPr lang="es-ES" dirty="0"/>
              <a:t> para normalizar magnitudes (Edad, Distancia) y equilibrar el peso de las </a:t>
            </a:r>
            <a:r>
              <a:rPr lang="es-ES" dirty="0" err="1"/>
              <a:t>features</a:t>
            </a:r>
            <a:r>
              <a:rPr lang="es-ES" dirty="0"/>
              <a:t>.</a:t>
            </a:r>
          </a:p>
          <a:p>
            <a:r>
              <a:rPr lang="es-ES" dirty="0"/>
              <a:t>Bloque </a:t>
            </a:r>
            <a:r>
              <a:rPr lang="es-ES" dirty="0" err="1"/>
              <a:t>Categórico:Encoding</a:t>
            </a:r>
            <a:r>
              <a:rPr lang="es-ES" dirty="0"/>
              <a:t>: Aplicación de </a:t>
            </a:r>
            <a:r>
              <a:rPr lang="es-ES" dirty="0" err="1"/>
              <a:t>OneHotEncoder</a:t>
            </a:r>
            <a:r>
              <a:rPr lang="es-ES" dirty="0"/>
              <a:t> para convertir variables de texto (</a:t>
            </a:r>
            <a:r>
              <a:rPr lang="es-ES" dirty="0" err="1"/>
              <a:t>Class</a:t>
            </a:r>
            <a:r>
              <a:rPr lang="es-ES" dirty="0"/>
              <a:t>, 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) en vectores numéricos </a:t>
            </a:r>
            <a:r>
              <a:rPr lang="es-ES" dirty="0" err="1"/>
              <a:t>procesables.Garantía</a:t>
            </a:r>
            <a:r>
              <a:rPr lang="es-ES" dirty="0"/>
              <a:t> Técnica: Eliminación de riesgos de Data </a:t>
            </a:r>
            <a:r>
              <a:rPr lang="es-ES" dirty="0" err="1"/>
              <a:t>Leakage</a:t>
            </a:r>
            <a:r>
              <a:rPr lang="es-ES" dirty="0"/>
              <a:t> al ajustar las transformaciones exclusivamente con los datos de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158650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AAC37-9EAF-3F24-F876-07F3721B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Automatización y Robustez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CAA3A7-5631-EED1-F6FD-4E9427268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Integración Modelo-Preprocesado: El modelo </a:t>
            </a:r>
            <a:r>
              <a:rPr lang="es-ES" dirty="0" err="1"/>
              <a:t>Random</a:t>
            </a:r>
            <a:r>
              <a:rPr lang="es-ES" dirty="0"/>
              <a:t> Forest se integra directamente al final del Pipeline, creando un objeto de predicción "llave en mano".</a:t>
            </a:r>
          </a:p>
          <a:p>
            <a:r>
              <a:rPr lang="es-ES" dirty="0"/>
              <a:t>Consistencia de Datos: Asegura que los datos de Test pasen exactamente por el mismo proceso que los de Train, evitando errores de formato o dimensiones.</a:t>
            </a:r>
          </a:p>
          <a:p>
            <a:r>
              <a:rPr lang="es-ES" dirty="0"/>
              <a:t>Persistencia con </a:t>
            </a:r>
            <a:r>
              <a:rPr lang="es-ES" dirty="0" err="1"/>
              <a:t>Joblib</a:t>
            </a:r>
            <a:r>
              <a:rPr lang="es-ES" dirty="0"/>
              <a:t>: Exportación del sistema completo a un archivo binario .</a:t>
            </a:r>
            <a:r>
              <a:rPr lang="es-ES" dirty="0" err="1"/>
              <a:t>joblib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Permite cargar en segundos todo el conocimiento: escalas, categorías y pesos del modelo.</a:t>
            </a:r>
          </a:p>
          <a:p>
            <a:r>
              <a:rPr lang="es-ES" dirty="0"/>
              <a:t>Escalabilidad: Sistema preparado para inferencia inmediata sobre datos en bruto (Raw Data), facilitando su despliegue en entornos reales.</a:t>
            </a:r>
          </a:p>
        </p:txBody>
      </p:sp>
    </p:spTree>
    <p:extLst>
      <p:ext uri="{BB962C8B-B14F-4D97-AF65-F5344CB8AC3E}">
        <p14:creationId xmlns:p14="http://schemas.microsoft.com/office/powerpoint/2010/main" val="3637178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Modelo Baseline -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624134"/>
          </a:xfrm>
        </p:spPr>
        <p:txBody>
          <a:bodyPr/>
          <a:lstStyle/>
          <a:p>
            <a:r>
              <a:rPr lang="es-ES" dirty="0"/>
              <a:t>Se implementó una regresión logística como modelo base para establecer una referencia de desempeño. Sus métricas permiten evaluar posteriormente la mejora obtenida con modelos más complejos.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20BD0B-D280-1926-13B5-EE565831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1" y="3429000"/>
            <a:ext cx="6011114" cy="2505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Avanzado -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368102"/>
          </a:xfrm>
        </p:spPr>
        <p:txBody>
          <a:bodyPr/>
          <a:lstStyle/>
          <a:p>
            <a:r>
              <a:rPr lang="es-ES" dirty="0"/>
              <a:t>Se entrenó un modelo </a:t>
            </a:r>
            <a:r>
              <a:rPr lang="es-ES" dirty="0" err="1"/>
              <a:t>Random</a:t>
            </a:r>
            <a:r>
              <a:rPr lang="es-ES" dirty="0"/>
              <a:t> Forest, capaz de capturar relaciones no lineales y patrones complejos en los datos. Este enfoque mostró un desempeño superior al modelo </a:t>
            </a:r>
            <a:r>
              <a:rPr lang="es-ES" dirty="0" err="1"/>
              <a:t>baseline</a:t>
            </a:r>
            <a:r>
              <a:rPr lang="es-ES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D85D90-5AD4-0B56-97CD-1202C1FF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495" y="3506931"/>
            <a:ext cx="5973009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1084638"/>
          </a:xfrm>
        </p:spPr>
        <p:txBody>
          <a:bodyPr/>
          <a:lstStyle/>
          <a:p>
            <a:r>
              <a:rPr lang="es-ES" dirty="0"/>
              <a:t>Se aplicó </a:t>
            </a:r>
            <a:r>
              <a:rPr lang="es-ES" dirty="0" err="1"/>
              <a:t>RandomizedSearchCV</a:t>
            </a:r>
            <a:r>
              <a:rPr lang="es-ES" dirty="0"/>
              <a:t> para identificar la mejor combinación de </a:t>
            </a:r>
            <a:r>
              <a:rPr lang="es-ES" dirty="0" err="1"/>
              <a:t>hiperparámetros</a:t>
            </a:r>
            <a:r>
              <a:rPr lang="es-ES" dirty="0"/>
              <a:t>. Mediante validación cruzada se seleccionó el modelo con mayor capacidad predictiva.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234FF5-5A15-197A-D809-39FC7963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53" y="3429000"/>
            <a:ext cx="6039693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Final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F907CB-9EA4-6E81-A871-34043291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41661"/>
            <a:ext cx="7278624" cy="32651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Extracción de importancia de variables</a:t>
            </a:r>
          </a:p>
          <a:p>
            <a:pPr lvl="1"/>
            <a:r>
              <a:t>Top 15 features más influyentes</a:t>
            </a:r>
          </a:p>
          <a:p>
            <a:pPr lvl="1"/>
            <a:r>
              <a:t>Visualización mediante gráfico horizontal</a:t>
            </a:r>
          </a:p>
          <a:p>
            <a:pPr lvl="1"/>
            <a:r>
              <a:t>Interpretación del impacto en satisfacción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Probabilidades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2060898"/>
            <a:ext cx="7511472" cy="2273358"/>
          </a:xfrm>
        </p:spPr>
        <p:txBody>
          <a:bodyPr/>
          <a:lstStyle/>
          <a:p>
            <a:pPr lvl="1"/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nivel</a:t>
            </a:r>
            <a:r>
              <a:rPr dirty="0"/>
              <a:t> de </a:t>
            </a:r>
            <a:r>
              <a:rPr dirty="0" err="1"/>
              <a:t>confianza</a:t>
            </a:r>
            <a:endParaRPr dirty="0"/>
          </a:p>
          <a:p>
            <a:pPr lvl="1"/>
            <a:r>
              <a:rPr dirty="0" err="1"/>
              <a:t>Clasificación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confianza</a:t>
            </a:r>
            <a:r>
              <a:rPr dirty="0"/>
              <a:t> y </a:t>
            </a:r>
            <a:r>
              <a:rPr dirty="0" err="1"/>
              <a:t>dudosas</a:t>
            </a:r>
            <a:endParaRPr dirty="0"/>
          </a:p>
          <a:p>
            <a:pPr lvl="1"/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ambiguos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CC61ED-99BD-08BF-EBCA-154B85158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873971"/>
            <a:ext cx="4315968" cy="24594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E6CD04-3DC3-C6A9-D4F7-1C3B73DC8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73971"/>
            <a:ext cx="4389120" cy="2459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supera al baseline</a:t>
            </a:r>
          </a:p>
          <a:p>
            <a:pPr lvl="1"/>
            <a:r>
              <a:t>La optimización mejora el rendimiento</a:t>
            </a:r>
          </a:p>
          <a:p>
            <a:pPr lvl="1"/>
            <a:r>
              <a:t>Variables clave influyen significativamente en satisfacción</a:t>
            </a:r>
          </a:p>
          <a:p>
            <a:pPr lvl="1"/>
            <a:r>
              <a:t>Modelo listo para integración o despliegue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110</TotalTime>
  <Words>499</Words>
  <Application>Microsoft Office PowerPoint</Application>
  <PresentationFormat>Presentación en pantalla (4:3)</PresentationFormat>
  <Paragraphs>46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Malla</vt:lpstr>
      <vt:lpstr>Predicción de Satisfacción de Pasajeros en Aerolíneas</vt:lpstr>
      <vt:lpstr>Objetivo del Proyecto</vt:lpstr>
      <vt:lpstr>Carga y Exploración de Datos</vt:lpstr>
      <vt:lpstr>División del Dataset</vt:lpstr>
      <vt:lpstr>Pipeline de Procesamiento de Datos</vt:lpstr>
      <vt:lpstr>Automatización y Robustez</vt:lpstr>
      <vt:lpstr>Modelo Baseline - Logistic Regression</vt:lpstr>
      <vt:lpstr>Modelo Avanzado - Random Forest</vt:lpstr>
      <vt:lpstr>Optimización del Modelo</vt:lpstr>
      <vt:lpstr>Evaluación Final</vt:lpstr>
      <vt:lpstr>Feature Importance</vt:lpstr>
      <vt:lpstr>Análisis de Probabilidades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Jonatán Luzón Montaño</dc:creator>
  <cp:keywords/>
  <dc:description>generated using python-pptx</dc:description>
  <cp:lastModifiedBy>Daniel Mascarilla Del Olmo</cp:lastModifiedBy>
  <cp:revision>5</cp:revision>
  <dcterms:created xsi:type="dcterms:W3CDTF">2013-01-27T09:14:16Z</dcterms:created>
  <dcterms:modified xsi:type="dcterms:W3CDTF">2026-03-07T10:45:05Z</dcterms:modified>
  <cp:category/>
</cp:coreProperties>
</file>